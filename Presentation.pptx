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5"/>
  </p:notesMasterIdLst>
  <p:sldIdLst>
    <p:sldId id="303" r:id="rId2"/>
    <p:sldId id="256" r:id="rId3"/>
    <p:sldId id="278" r:id="rId4"/>
    <p:sldId id="304" r:id="rId5"/>
    <p:sldId id="318" r:id="rId6"/>
    <p:sldId id="270" r:id="rId7"/>
    <p:sldId id="279" r:id="rId8"/>
    <p:sldId id="283" r:id="rId9"/>
    <p:sldId id="258" r:id="rId10"/>
    <p:sldId id="289" r:id="rId11"/>
    <p:sldId id="305" r:id="rId12"/>
    <p:sldId id="309" r:id="rId13"/>
    <p:sldId id="310" r:id="rId14"/>
    <p:sldId id="299" r:id="rId15"/>
    <p:sldId id="302" r:id="rId16"/>
    <p:sldId id="311" r:id="rId17"/>
    <p:sldId id="312" r:id="rId18"/>
    <p:sldId id="313" r:id="rId19"/>
    <p:sldId id="314" r:id="rId20"/>
    <p:sldId id="315" r:id="rId21"/>
    <p:sldId id="316" r:id="rId22"/>
    <p:sldId id="317" r:id="rId23"/>
    <p:sldId id="290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4EF94F-89EE-4B56-9C31-7EDEC2EC7B60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896996-988E-4D1B-86CA-B33D09C207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139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7933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086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B023A-BE63-6F5E-D5C5-DAEEB1A08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D2FC7E-ADF0-4B90-403E-65FD273C6A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B7AD31-B782-C7A0-E8C3-4EA7B5453F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68A8CE-BD34-DBB5-7E81-6F76D90531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2131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573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4/13/2026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  <p:sldLayoutId id="2147483670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thank-you-polaroid-letters-2490552/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C870A-F857-8583-9F79-FE204A5E0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685800"/>
            <a:ext cx="9993620" cy="5538019"/>
          </a:xfrm>
          <a:gradFill>
            <a:gsLst>
              <a:gs pos="10000">
                <a:schemeClr val="bg2">
                  <a:tint val="97000"/>
                  <a:hueMod val="92000"/>
                  <a:satMod val="169000"/>
                  <a:lumMod val="164000"/>
                </a:schemeClr>
              </a:gs>
              <a:gs pos="100000">
                <a:schemeClr val="bg2">
                  <a:shade val="96000"/>
                  <a:satMod val="120000"/>
                  <a:lumMod val="90000"/>
                </a:schemeClr>
              </a:gs>
            </a:gsLst>
            <a:lin ang="6120000" scaled="1"/>
          </a:gradFill>
          <a:ln>
            <a:solidFill>
              <a:schemeClr val="bg2">
                <a:lumMod val="75000"/>
              </a:schemeClr>
            </a:solidFill>
          </a:ln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endParaRPr lang="en-US" sz="4400" i="1" dirty="0">
              <a:latin typeface="Algerian" panose="04020705040A02060702" pitchFamily="82" charset="0"/>
            </a:endParaRPr>
          </a:p>
          <a:p>
            <a:pPr marL="0" indent="0" algn="ctr">
              <a:buNone/>
            </a:pPr>
            <a:endParaRPr lang="en-US" sz="4400" i="1" dirty="0">
              <a:latin typeface="Algerian" panose="04020705040A02060702" pitchFamily="82" charset="0"/>
            </a:endParaRPr>
          </a:p>
          <a:p>
            <a:pPr marL="0" indent="0" algn="ctr">
              <a:buNone/>
            </a:pPr>
            <a:endParaRPr lang="en-US" sz="4400" i="1" dirty="0">
              <a:latin typeface="Algerian" panose="04020705040A02060702" pitchFamily="82" charset="0"/>
            </a:endParaRPr>
          </a:p>
          <a:p>
            <a:pPr marL="0" indent="0" algn="ctr">
              <a:buNone/>
            </a:pPr>
            <a:r>
              <a:rPr lang="en-US" sz="2000" i="1" dirty="0">
                <a:solidFill>
                  <a:schemeClr val="accent1"/>
                </a:solidFill>
                <a:latin typeface="Calibri" panose="04020705040A02060702" pitchFamily="82" charset="0"/>
              </a:rPr>
              <a:t>      </a:t>
            </a:r>
            <a:r>
              <a:rPr lang="en-US" sz="4000" b="1" i="1" dirty="0">
                <a:solidFill>
                  <a:schemeClr val="accent1"/>
                </a:solidFill>
                <a:latin typeface="Calibri" panose="04020705040A02060702" pitchFamily="82" charset="0"/>
              </a:rPr>
              <a:t>CRM Analytics</a:t>
            </a:r>
          </a:p>
          <a:p>
            <a:pPr marL="0" indent="0" algn="ctr">
              <a:buNone/>
            </a:pPr>
            <a:r>
              <a:rPr lang="en-US" sz="2000" i="1" dirty="0">
                <a:solidFill>
                  <a:schemeClr val="accent1"/>
                </a:solidFill>
                <a:latin typeface="Calibri" panose="04020705040A02060702" pitchFamily="82" charset="0"/>
              </a:rPr>
              <a:t>                </a:t>
            </a:r>
          </a:p>
          <a:p>
            <a:pPr marL="0" indent="0" algn="ctr">
              <a:buNone/>
            </a:pPr>
            <a:endParaRPr lang="en-US" sz="4400" i="1" dirty="0">
              <a:solidFill>
                <a:schemeClr val="accent1"/>
              </a:solidFill>
              <a:latin typeface="Algerian" panose="04020705040A02060702" pitchFamily="82" charset="0"/>
            </a:endParaRPr>
          </a:p>
          <a:p>
            <a:pPr marL="0" indent="0" algn="ctr">
              <a:buNone/>
            </a:pPr>
            <a:r>
              <a:rPr lang="en-US" sz="2000" i="1" dirty="0">
                <a:solidFill>
                  <a:schemeClr val="accent1"/>
                </a:solidFill>
                <a:latin typeface="Calibri" panose="04020705040A02060702" pitchFamily="82" charset="0"/>
              </a:rPr>
              <a:t>                    </a:t>
            </a:r>
            <a:r>
              <a:rPr lang="en-US" sz="2000" b="1" i="1" dirty="0">
                <a:solidFill>
                  <a:schemeClr val="accent1"/>
                </a:solidFill>
                <a:latin typeface="Calibri" panose="04020705040A02060702" pitchFamily="82" charset="0"/>
              </a:rPr>
              <a:t>Presented by </a:t>
            </a:r>
            <a:r>
              <a:rPr lang="en-US" b="1" i="1" dirty="0">
                <a:solidFill>
                  <a:schemeClr val="accent1"/>
                </a:solidFill>
                <a:latin typeface="Calibri" panose="04020705040A02060702" pitchFamily="82" charset="0"/>
              </a:rPr>
              <a:t>ANISH KUMAR</a:t>
            </a:r>
            <a:endParaRPr lang="en-US" sz="2000" b="1" i="1" dirty="0">
              <a:solidFill>
                <a:schemeClr val="accent1"/>
              </a:solidFill>
              <a:latin typeface="Calibri" panose="04020705040A02060702" pitchFamily="82" charset="0"/>
            </a:endParaRPr>
          </a:p>
          <a:p>
            <a:pPr marL="0" indent="0" algn="ctr">
              <a:buNone/>
            </a:pPr>
            <a:r>
              <a:rPr lang="en-US" sz="2000" i="1" dirty="0">
                <a:solidFill>
                  <a:schemeClr val="accent1"/>
                </a:solidFill>
                <a:latin typeface="Calibri" panose="04020705040A02060702" pitchFamily="82" charset="0"/>
              </a:rPr>
              <a:t>                       </a:t>
            </a:r>
            <a:r>
              <a:rPr lang="en-US" sz="2000" b="1" i="1" dirty="0">
                <a:solidFill>
                  <a:schemeClr val="accent1"/>
                </a:solidFill>
                <a:latin typeface="Calibri" panose="04020705040A02060702" pitchFamily="82" charset="0"/>
              </a:rPr>
              <a:t>04/03/2026</a:t>
            </a:r>
            <a:endParaRPr lang="en-IN" b="1" i="1" dirty="0">
              <a:solidFill>
                <a:schemeClr val="accent1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067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2FEFA39-BFD2-44E0-375B-B18292ADA23F}"/>
              </a:ext>
            </a:extLst>
          </p:cNvPr>
          <p:cNvSpPr txBox="1">
            <a:spLocks/>
          </p:cNvSpPr>
          <p:nvPr/>
        </p:nvSpPr>
        <p:spPr>
          <a:xfrm>
            <a:off x="252919" y="322570"/>
            <a:ext cx="11572288" cy="1524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2000" b="1" dirty="0">
                <a:solidFill>
                  <a:srgbClr val="002060"/>
                </a:solidFill>
                <a:latin typeface="Calibri"/>
              </a:rPr>
              <a:t>CRM analytics opportunity DASHBOARD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C542C07-4A32-742E-2794-5D3B927FDAA8}"/>
              </a:ext>
            </a:extLst>
          </p:cNvPr>
          <p:cNvSpPr txBox="1">
            <a:spLocks/>
          </p:cNvSpPr>
          <p:nvPr/>
        </p:nvSpPr>
        <p:spPr>
          <a:xfrm>
            <a:off x="724867" y="1946786"/>
            <a:ext cx="9736656" cy="3500285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Objective:</a:t>
            </a:r>
            <a:endParaRPr lang="en-US" dirty="0">
              <a:solidFill>
                <a:schemeClr val="accent1"/>
              </a:solidFill>
            </a:endParaRPr>
          </a:p>
          <a:p>
            <a:pPr lvl="0"/>
            <a:r>
              <a:rPr lang="en-US" dirty="0">
                <a:solidFill>
                  <a:schemeClr val="accent1"/>
                </a:solidFill>
              </a:rPr>
              <a:t>To analyze performance and risk indicators using KPIs.</a:t>
            </a:r>
          </a:p>
          <a:p>
            <a:pPr lvl="0"/>
            <a:r>
              <a:rPr lang="en-US" dirty="0">
                <a:solidFill>
                  <a:schemeClr val="accent1"/>
                </a:solidFill>
              </a:rPr>
              <a:t>In summary, our dashboards are designed for </a:t>
            </a:r>
            <a:r>
              <a:rPr lang="en-US" b="1" dirty="0">
                <a:solidFill>
                  <a:schemeClr val="accent1"/>
                </a:solidFill>
              </a:rPr>
              <a:t>CRM Analytics </a:t>
            </a:r>
            <a:r>
              <a:rPr lang="en-US" b="1" i="1" dirty="0">
                <a:solidFill>
                  <a:schemeClr val="accent1"/>
                </a:solidFill>
              </a:rPr>
              <a:t>t</a:t>
            </a:r>
            <a:r>
              <a:rPr lang="en-US" i="1" dirty="0">
                <a:solidFill>
                  <a:schemeClr val="accent1"/>
                </a:solidFill>
              </a:rPr>
              <a:t>o transform opportunity data into actionable insights that drive higher conversions, reliable forecasts, and smarter sales strategies.</a:t>
            </a:r>
            <a:endParaRPr lang="en-US" sz="50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8646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91842-2D4B-0A70-6123-0B3797114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D80D3B3-482D-777D-8722-DA17F12EFA66}"/>
              </a:ext>
            </a:extLst>
          </p:cNvPr>
          <p:cNvSpPr txBox="1"/>
          <p:nvPr/>
        </p:nvSpPr>
        <p:spPr>
          <a:xfrm>
            <a:off x="449452" y="151770"/>
            <a:ext cx="10848812" cy="5740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b="1" cap="all" dirty="0">
              <a:ln w="3175" cmpd="sng">
                <a:noFill/>
              </a:ln>
              <a:solidFill>
                <a:srgbClr val="002060"/>
              </a:solidFill>
              <a:latin typeface="+mj-lt"/>
              <a:ea typeface="+mj-ea"/>
              <a:cs typeface="+mj-cs"/>
            </a:endParaRPr>
          </a:p>
          <a:p>
            <a:endParaRPr lang="en-US" sz="2400" b="1" cap="all" dirty="0">
              <a:ln w="3175" cmpd="sng">
                <a:noFill/>
              </a:ln>
              <a:solidFill>
                <a:srgbClr val="002060"/>
              </a:solidFill>
              <a:latin typeface="+mj-lt"/>
              <a:ea typeface="+mj-ea"/>
              <a:cs typeface="+mj-cs"/>
            </a:endParaRPr>
          </a:p>
          <a:p>
            <a:r>
              <a:rPr lang="en-US" sz="2000" b="1" cap="all" dirty="0">
                <a:ln w="3175" cmpd="sng">
                  <a:noFill/>
                </a:ln>
                <a:solidFill>
                  <a:srgbClr val="002060"/>
                </a:solidFill>
                <a:latin typeface="Calibri"/>
                <a:ea typeface="+mj-ea"/>
                <a:cs typeface="+mj-cs"/>
              </a:rPr>
              <a:t>Introduction</a:t>
            </a:r>
          </a:p>
          <a:p>
            <a:endParaRPr lang="en-US" b="1" cap="all" dirty="0">
              <a:ln w="3175" cmpd="sng">
                <a:noFill/>
              </a:ln>
              <a:solidFill>
                <a:srgbClr val="002060"/>
              </a:solidFill>
              <a:latin typeface="+mj-lt"/>
              <a:ea typeface="+mj-ea"/>
              <a:cs typeface="+mj-cs"/>
            </a:endParaRPr>
          </a:p>
          <a:p>
            <a:r>
              <a:rPr lang="en-US" sz="2000" dirty="0">
                <a:solidFill>
                  <a:schemeClr val="accent1"/>
                </a:solidFill>
                <a:latin typeface="Calibri"/>
              </a:rPr>
              <a:t>The </a:t>
            </a:r>
            <a:r>
              <a:rPr lang="en-US" sz="2000" b="1" dirty="0">
                <a:solidFill>
                  <a:schemeClr val="accent1"/>
                </a:solidFill>
                <a:latin typeface="Calibri"/>
              </a:rPr>
              <a:t>Opportunity Dashboard</a:t>
            </a:r>
            <a:r>
              <a:rPr lang="en-US" sz="2000" dirty="0">
                <a:solidFill>
                  <a:schemeClr val="accent1"/>
                </a:solidFill>
                <a:latin typeface="Calibri"/>
              </a:rPr>
              <a:t> is a comprehensive business analytics tool designed to provide visibility into sales performance, revenue trends, and opportunity management. It consolidates data from multiple sources into a single, interactive view, enabling stakeholders to monitor key metrics such as expected revenue, win/loss rates, industry distribution, and pipeline health.</a:t>
            </a:r>
          </a:p>
          <a:p>
            <a:r>
              <a:rPr lang="en-US" sz="2000" dirty="0">
                <a:solidFill>
                  <a:schemeClr val="accent1"/>
                </a:solidFill>
                <a:latin typeface="Calibri"/>
              </a:rPr>
              <a:t>By presenting information through charts, graphs, and filters, the dashboard transforms raw data into meaningful insights that are easy to interpret and act upon.</a:t>
            </a:r>
          </a:p>
          <a:p>
            <a:endParaRPr lang="en-US" sz="1800" dirty="0">
              <a:solidFill>
                <a:schemeClr val="accent1"/>
              </a:solidFill>
              <a:cs typeface="Calibri" panose="020F0502020204030204" pitchFamily="34" charset="0"/>
            </a:endParaRPr>
          </a:p>
          <a:p>
            <a:r>
              <a:rPr lang="en-US" sz="2000" b="1" cap="all" dirty="0">
                <a:ln w="3175" cmpd="sng">
                  <a:noFill/>
                </a:ln>
                <a:solidFill>
                  <a:schemeClr val="accent1"/>
                </a:solidFill>
                <a:latin typeface="Calibri"/>
                <a:ea typeface="+mj-ea"/>
                <a:cs typeface="+mj-cs"/>
              </a:rPr>
              <a:t>Purpose</a:t>
            </a: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1"/>
                </a:solidFill>
                <a:latin typeface="Calibri"/>
              </a:rPr>
              <a:t>Understand overall performance and growth patterns</a:t>
            </a: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1"/>
                </a:solidFill>
                <a:latin typeface="Calibri"/>
              </a:rPr>
              <a:t>Identify strengths, risks, and improvement opportunities</a:t>
            </a: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1"/>
                </a:solidFill>
                <a:latin typeface="Calibri"/>
              </a:rPr>
              <a:t>Support management with data-driven decisions</a:t>
            </a:r>
          </a:p>
          <a:p>
            <a:endParaRPr lang="en-US" sz="1800" dirty="0">
              <a:solidFill>
                <a:schemeClr val="accent1"/>
              </a:solidFill>
              <a:cs typeface="Calibri" panose="020F0502020204030204" pitchFamily="34" charset="0"/>
            </a:endParaRPr>
          </a:p>
          <a:p>
            <a:endParaRPr lang="en-US" sz="1800" dirty="0">
              <a:solidFill>
                <a:schemeClr val="bg1"/>
              </a:solidFill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4634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24E41B1E-9B1A-9C3B-4C42-CC3B6BD312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3732" y="-264317"/>
            <a:ext cx="10532428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b="1" dirty="0">
                <a:solidFill>
                  <a:schemeClr val="accent1"/>
                </a:solidFill>
                <a:latin typeface="Calibri" panose="020B0604020202020204" pitchFamily="34" charset="0"/>
              </a:rPr>
              <a:t>PURPOSE 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b="1" dirty="0">
              <a:solidFill>
                <a:schemeClr val="accent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Calibri" panose="020B0604020202020204" pitchFamily="34" charset="0"/>
              </a:rPr>
              <a:t>Evaluate Sales Effectiveness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Calibri" panose="020B0604020202020204" pitchFamily="34" charset="0"/>
              </a:rPr>
              <a:t> – Track closed deals, win/loss rates, and conversion performance.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Calibri" panose="020B0604020202020204" pitchFamily="34" charset="0"/>
              </a:rPr>
              <a:t>Identify Growth Opportunities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Calibri" panose="020B0604020202020204" pitchFamily="34" charset="0"/>
              </a:rPr>
              <a:t> – Highlight industries and opportunity types that contribute most to revenue.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Calibri" panose="020B0604020202020204" pitchFamily="34" charset="0"/>
              </a:rPr>
              <a:t>Support Strategic Planning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Calibri" panose="020B0604020202020204" pitchFamily="34" charset="0"/>
              </a:rPr>
              <a:t> – Compare forecast vs. expected revenue to guide resource allocation.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Calibri" panose="020B0604020202020204" pitchFamily="34" charset="0"/>
              </a:rPr>
              <a:t>Monitor Pipeline Health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Calibri" panose="020B0604020202020204" pitchFamily="34" charset="0"/>
              </a:rPr>
              <a:t> – Assess total, active, and closed opportunities to ensure sustainable growth.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Calibri" panose="020B0604020202020204" pitchFamily="34" charset="0"/>
              </a:rPr>
              <a:t>Enable Data‑Driven Decisions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Calibri" panose="020B0604020202020204" pitchFamily="34" charset="0"/>
              </a:rPr>
              <a:t> – Provide leadership with actionable insights for improving sales strategies and maximizing ROI.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8224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60053-6D71-618E-9A37-ED2F1C56F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D383845D-2EC7-8EC9-882E-A457058931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3732" y="1397676"/>
            <a:ext cx="10532428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Calibri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CECAFD0F-BD2F-38F3-B0C3-45CEA632D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69008"/>
            <a:ext cx="9779183" cy="1135171"/>
          </a:xfrm>
        </p:spPr>
        <p:txBody>
          <a:bodyPr/>
          <a:lstStyle/>
          <a:p>
            <a:r>
              <a:rPr lang="en-US" sz="2000" b="1" dirty="0">
                <a:solidFill>
                  <a:schemeClr val="bg1"/>
                </a:solidFill>
                <a:latin typeface="Calibri"/>
              </a:rPr>
              <a:t>Tools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F30AD3B-8437-2631-85AF-D4BB3DB5276C}"/>
              </a:ext>
            </a:extLst>
          </p:cNvPr>
          <p:cNvSpPr/>
          <p:nvPr/>
        </p:nvSpPr>
        <p:spPr>
          <a:xfrm>
            <a:off x="1435262" y="3009413"/>
            <a:ext cx="3229337" cy="1262746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/>
              </a:rPr>
              <a:t>Project Management Tools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B14560F-DE83-A1F9-EBE8-964B1551996F}"/>
              </a:ext>
            </a:extLst>
          </p:cNvPr>
          <p:cNvSpPr/>
          <p:nvPr/>
        </p:nvSpPr>
        <p:spPr>
          <a:xfrm>
            <a:off x="6447093" y="1636671"/>
            <a:ext cx="4348425" cy="666687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/>
              </a:rPr>
              <a:t>Excel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7FBBBB2-6E3A-8DC4-E50A-0833FB18E5EB}"/>
              </a:ext>
            </a:extLst>
          </p:cNvPr>
          <p:cNvSpPr/>
          <p:nvPr/>
        </p:nvSpPr>
        <p:spPr>
          <a:xfrm>
            <a:off x="6447093" y="2754771"/>
            <a:ext cx="4348425" cy="666687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/>
              </a:rPr>
              <a:t>Power Bi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8C9A519-5E9B-5D4E-40DA-4F93594A3FE2}"/>
              </a:ext>
            </a:extLst>
          </p:cNvPr>
          <p:cNvSpPr/>
          <p:nvPr/>
        </p:nvSpPr>
        <p:spPr>
          <a:xfrm>
            <a:off x="6447093" y="3746511"/>
            <a:ext cx="4348425" cy="666687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/>
              </a:rPr>
              <a:t>Tableau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CA51D54-9672-3FCC-9442-4AC2E1ED77AD}"/>
              </a:ext>
            </a:extLst>
          </p:cNvPr>
          <p:cNvSpPr/>
          <p:nvPr/>
        </p:nvSpPr>
        <p:spPr>
          <a:xfrm>
            <a:off x="6447093" y="4886442"/>
            <a:ext cx="4348425" cy="666687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/>
              </a:rPr>
              <a:t>MYSQL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DCBA2B8-549C-466C-BE14-DDB8B06427A6}"/>
              </a:ext>
            </a:extLst>
          </p:cNvPr>
          <p:cNvCxnSpPr>
            <a:cxnSpLocks/>
          </p:cNvCxnSpPr>
          <p:nvPr/>
        </p:nvCxnSpPr>
        <p:spPr>
          <a:xfrm flipV="1">
            <a:off x="4641451" y="2014463"/>
            <a:ext cx="1759346" cy="144969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6ECC4A3-4DE9-1F3C-AA1E-4ED8C24A07B8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4664599" y="3771512"/>
            <a:ext cx="1782494" cy="30834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D471C1C-D057-0BAD-1717-68A6E18BCA36}"/>
              </a:ext>
            </a:extLst>
          </p:cNvPr>
          <p:cNvCxnSpPr>
            <a:cxnSpLocks/>
          </p:cNvCxnSpPr>
          <p:nvPr/>
        </p:nvCxnSpPr>
        <p:spPr>
          <a:xfrm flipV="1">
            <a:off x="4641451" y="3167543"/>
            <a:ext cx="1782494" cy="41881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9A2B64F-DCAE-2C26-BE27-692A74CA9AA5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4664599" y="3914955"/>
            <a:ext cx="1782494" cy="130483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862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D11AE-556B-2395-A9C5-E8A711998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EEADF-0DFB-6292-C99F-401EB68EB568}"/>
              </a:ext>
            </a:extLst>
          </p:cNvPr>
          <p:cNvSpPr txBox="1">
            <a:spLocks/>
          </p:cNvSpPr>
          <p:nvPr/>
        </p:nvSpPr>
        <p:spPr>
          <a:xfrm>
            <a:off x="533400" y="782320"/>
            <a:ext cx="9088120" cy="5421832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000" b="1" dirty="0">
                <a:solidFill>
                  <a:schemeClr val="bg1"/>
                </a:solidFill>
                <a:latin typeface="Calibri" panose="020B0604020202020204" pitchFamily="34" charset="0"/>
                <a:cs typeface="Arial" panose="020B0604020202020204" pitchFamily="34" charset="0"/>
              </a:rPr>
              <a:t>Objectives – KPIs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endParaRPr lang="en-US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71500" indent="-5715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  <a:latin typeface="Calibri" panose="020B0604020202020204" pitchFamily="34" charset="0"/>
                <a:cs typeface="Arial" panose="020B0604020202020204" pitchFamily="34" charset="0"/>
              </a:rPr>
              <a:t>Expected Amount  </a:t>
            </a:r>
          </a:p>
          <a:p>
            <a:pPr marL="571500" indent="-5715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  <a:latin typeface="Calibri" panose="020B0604020202020204" pitchFamily="34" charset="0"/>
                <a:cs typeface="Arial" panose="020B0604020202020204" pitchFamily="34" charset="0"/>
              </a:rPr>
              <a:t>Active Opportunities </a:t>
            </a:r>
          </a:p>
          <a:p>
            <a:pPr marL="571500" indent="-5715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  <a:latin typeface="Calibri" panose="020B0604020202020204" pitchFamily="34" charset="0"/>
                <a:cs typeface="Arial" panose="020B0604020202020204" pitchFamily="34" charset="0"/>
              </a:rPr>
              <a:t>Conversion Rate</a:t>
            </a:r>
          </a:p>
          <a:p>
            <a:pPr marL="571500" indent="-5715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  <a:latin typeface="Calibri" panose="020B0604020202020204" pitchFamily="34" charset="0"/>
                <a:cs typeface="Arial" panose="020B0604020202020204" pitchFamily="34" charset="0"/>
              </a:rPr>
              <a:t> Win Rate-Win Rate </a:t>
            </a:r>
          </a:p>
          <a:p>
            <a:pPr marL="571500" indent="-5715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  <a:latin typeface="Calibri" panose="020B0604020202020204" pitchFamily="34" charset="0"/>
                <a:cs typeface="Arial" panose="020B0604020202020204" pitchFamily="34" charset="0"/>
              </a:rPr>
              <a:t> Loss Rate</a:t>
            </a:r>
          </a:p>
          <a:p>
            <a:pPr marL="571500" indent="-5715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  <a:latin typeface="Calibri" panose="020B0604020202020204" pitchFamily="34" charset="0"/>
                <a:cs typeface="Arial" panose="020B0604020202020204" pitchFamily="34" charset="0"/>
              </a:rPr>
              <a:t>Expected Vs Forecast</a:t>
            </a:r>
          </a:p>
          <a:p>
            <a:pPr marL="571500" indent="-5715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  <a:latin typeface="Calibri" panose="020B0604020202020204" pitchFamily="34" charset="0"/>
                <a:cs typeface="Arial" panose="020B0604020202020204" pitchFamily="34" charset="0"/>
              </a:rPr>
              <a:t>Active Vs Total Opportunities</a:t>
            </a:r>
          </a:p>
          <a:p>
            <a:pPr marL="571500" indent="-5715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  <a:latin typeface="Calibri" panose="020B0604020202020204" pitchFamily="34" charset="0"/>
                <a:cs typeface="Arial" panose="020B0604020202020204" pitchFamily="34" charset="0"/>
              </a:rPr>
              <a:t>Closed Won Vs Total Opportunities                .</a:t>
            </a:r>
          </a:p>
          <a:p>
            <a:pPr marL="571500" indent="-5715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  <a:latin typeface="Calibri" panose="020B0604020202020204" pitchFamily="34" charset="0"/>
                <a:cs typeface="Arial" panose="020B0604020202020204" pitchFamily="34" charset="0"/>
              </a:rPr>
              <a:t>Closed Won Vs Total Closed</a:t>
            </a:r>
          </a:p>
          <a:p>
            <a:pPr marL="571500" indent="-5715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  <a:latin typeface="Calibri" panose="020B0604020202020204" pitchFamily="34" charset="0"/>
                <a:cs typeface="Arial" panose="020B0604020202020204" pitchFamily="34" charset="0"/>
              </a:rPr>
              <a:t> Expected Amount by Opportunity Type</a:t>
            </a:r>
          </a:p>
          <a:p>
            <a:pPr marL="571500" indent="-5715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bg1"/>
                </a:solidFill>
                <a:latin typeface="Calibri" panose="020B0604020202020204" pitchFamily="34" charset="0"/>
                <a:cs typeface="Arial" panose="020B0604020202020204" pitchFamily="34" charset="0"/>
              </a:rPr>
              <a:t> Opportunities by Industry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47B32-1641-AE47-566F-E5854200C595}"/>
              </a:ext>
            </a:extLst>
          </p:cNvPr>
          <p:cNvSpPr txBox="1">
            <a:spLocks/>
          </p:cNvSpPr>
          <p:nvPr/>
        </p:nvSpPr>
        <p:spPr>
          <a:xfrm>
            <a:off x="533399" y="1737431"/>
            <a:ext cx="10970343" cy="44667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1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rgbClr val="00206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8862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E6504-84F5-8E2D-36D9-806E609EB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9E95806-DE61-7819-F466-D579204A6F36}"/>
              </a:ext>
            </a:extLst>
          </p:cNvPr>
          <p:cNvSpPr txBox="1"/>
          <p:nvPr/>
        </p:nvSpPr>
        <p:spPr>
          <a:xfrm>
            <a:off x="402955" y="506948"/>
            <a:ext cx="9546957" cy="3524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Calibri"/>
                <a:cs typeface="Calibri" panose="020F0502020204030204" pitchFamily="34" charset="0"/>
              </a:rPr>
              <a:t>Scope</a:t>
            </a:r>
            <a:endParaRPr lang="en-US" sz="1800" dirty="0">
              <a:solidFill>
                <a:schemeClr val="bg1"/>
              </a:solidFill>
              <a:cs typeface="Calibri" panose="020F0502020204030204" pitchFamily="34" charset="0"/>
            </a:endParaRP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2060"/>
                </a:solidFill>
                <a:latin typeface="Calibri"/>
              </a:rPr>
              <a:t>Data collection and validation</a:t>
            </a: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2060"/>
                </a:solidFill>
                <a:latin typeface="Calibri"/>
              </a:rPr>
              <a:t>Data visualization and analysis</a:t>
            </a: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2060"/>
                </a:solidFill>
                <a:latin typeface="Calibri"/>
              </a:rPr>
              <a:t>Performance monitoring across key metrics</a:t>
            </a:r>
          </a:p>
          <a:p>
            <a:endParaRPr lang="en-US" sz="1800" dirty="0">
              <a:solidFill>
                <a:schemeClr val="bg1"/>
              </a:solidFill>
              <a:cs typeface="Calibri" panose="020F0502020204030204" pitchFamily="34" charset="0"/>
            </a:endParaRPr>
          </a:p>
          <a:p>
            <a:r>
              <a:rPr lang="en-US" sz="2000" b="1" dirty="0">
                <a:solidFill>
                  <a:schemeClr val="bg1"/>
                </a:solidFill>
                <a:latin typeface="Calibri"/>
                <a:cs typeface="Calibri" panose="020F0502020204030204" pitchFamily="34" charset="0"/>
              </a:rPr>
              <a:t>Tools &amp; Technology</a:t>
            </a:r>
            <a:endParaRPr lang="en-US" sz="1800" dirty="0">
              <a:solidFill>
                <a:schemeClr val="bg1"/>
              </a:solidFill>
              <a:cs typeface="Calibri" panose="020F0502020204030204" pitchFamily="34" charset="0"/>
            </a:endParaRP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2060"/>
                </a:solidFill>
                <a:latin typeface="Calibri"/>
              </a:rPr>
              <a:t>Data Processing &amp; Validation</a:t>
            </a: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2060"/>
                </a:solidFill>
                <a:latin typeface="Calibri"/>
              </a:rPr>
              <a:t>Visualization Dashboard (Tableau/ Reporting Tool)</a:t>
            </a: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2060"/>
                </a:solidFill>
                <a:latin typeface="Calibri"/>
              </a:rPr>
              <a:t>Structured database sources</a:t>
            </a:r>
          </a:p>
        </p:txBody>
      </p:sp>
    </p:spTree>
    <p:extLst>
      <p:ext uri="{BB962C8B-B14F-4D97-AF65-F5344CB8AC3E}">
        <p14:creationId xmlns:p14="http://schemas.microsoft.com/office/powerpoint/2010/main" val="2515921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A19E3-0171-C78E-B39E-4A8F8A709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2E8DB-EB15-68DE-0085-D2258085C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1002890"/>
          </a:xfr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/>
          <a:p>
            <a:pPr marL="0" indent="0" algn="ctr">
              <a:buNone/>
            </a:pPr>
            <a:endParaRPr lang="en-US" b="1" dirty="0"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IN" sz="2000" b="1" dirty="0">
                <a:latin typeface="Calibri" panose="020B0A04020102020204" pitchFamily="34" charset="0"/>
                <a:cs typeface="Arial" panose="020B0604020202020204" pitchFamily="34" charset="0"/>
              </a:rPr>
              <a:t>Expected Amount by Opportunity Type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4D2EB9-313F-0E7D-6489-7CD1CD09D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141" y="1002890"/>
            <a:ext cx="5817860" cy="4412390"/>
          </a:xfrm>
          <a:prstGeom prst="rect">
            <a:avLst/>
          </a:prstGeom>
        </p:spPr>
      </p:pic>
      <p:sp>
        <p:nvSpPr>
          <p:cNvPr id="10" name="Rectangle 4">
            <a:extLst>
              <a:ext uri="{FF2B5EF4-FFF2-40B4-BE49-F238E27FC236}">
                <a16:creationId xmlns:a16="http://schemas.microsoft.com/office/drawing/2014/main" id="{8CB9D27D-0A3E-F171-B010-28880AE0C8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1111" y="1397674"/>
            <a:ext cx="5685779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B0604020202020204" pitchFamily="34" charset="0"/>
              </a:rPr>
              <a:t>Insight 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B0604020202020204" pitchFamily="34" charset="0"/>
              </a:rPr>
              <a:t>Customer, Prospect, and “Not Mentioned” each hold the highest expected amount (59.14M), showing strong potential but also data quality issues.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B0604020202020204" pitchFamily="34" charset="0"/>
              </a:rPr>
              <a:t>Partner opportunities (50.30M) highlight valuable collaboration potential.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B0604020202020204" pitchFamily="34" charset="0"/>
              </a:rPr>
              <a:t>Reseller segment (46.17M) contributes less, suggesting smaller deal sizes or limited activity.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B0604020202020204" pitchFamily="34" charset="0"/>
              </a:rPr>
              <a:t>The “Not Mentioned” category signals incomplete classification, reducing the accuracy of insights and masking true business drivers.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1350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FBEC4D1-E21C-EF8E-55D2-CE8CFF7AA5FB}"/>
              </a:ext>
            </a:extLst>
          </p:cNvPr>
          <p:cNvSpPr txBox="1">
            <a:spLocks/>
          </p:cNvSpPr>
          <p:nvPr/>
        </p:nvSpPr>
        <p:spPr>
          <a:xfrm>
            <a:off x="9832" y="1"/>
            <a:ext cx="12192000" cy="1002889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indent="0" algn="ctr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000" b="1" cap="none">
                <a:solidFill>
                  <a:schemeClr val="bg2">
                    <a:lumMod val="75000"/>
                  </a:schemeClr>
                </a:solidFill>
                <a:effectLst/>
                <a:latin typeface="Arial Black" panose="020B0A040201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cap="none">
                <a:solidFill>
                  <a:schemeClr val="bg2">
                    <a:lumMod val="75000"/>
                  </a:schemeClr>
                </a:solidFill>
                <a:effectLst/>
              </a:defRPr>
            </a:lvl2pPr>
            <a:lvl3pPr marL="12001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cap="none">
                <a:solidFill>
                  <a:schemeClr val="bg2">
                    <a:lumMod val="75000"/>
                  </a:schemeClr>
                </a:solidFill>
                <a:effectLst/>
              </a:defRPr>
            </a:lvl3pPr>
            <a:lvl4pPr marL="1543050" indent="-1714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4pPr>
            <a:lvl5pPr marL="2000250" indent="-1714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5pPr>
            <a:lvl6pPr marL="25146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6pPr>
            <a:lvl7pPr marL="29718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7pPr>
            <a:lvl8pPr marL="34290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8pPr>
            <a:lvl9pPr marL="38862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cap="none">
                <a:solidFill>
                  <a:schemeClr val="bg2">
                    <a:lumMod val="75000"/>
                  </a:schemeClr>
                </a:solidFill>
                <a:effectLst/>
              </a:defRPr>
            </a:lvl9pPr>
          </a:lstStyle>
          <a:p>
            <a:r>
              <a:rPr lang="en-US" sz="2000" dirty="0">
                <a:latin typeface="Calibri"/>
              </a:rPr>
              <a:t>Top 10 Industry by opportunity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DB055D-72A5-C9DE-A7E5-E1EB22AB8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61" y="894080"/>
            <a:ext cx="5890279" cy="5618480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1CF3E23C-DB1C-1A0E-BA21-A3E0AC2124C3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570095" y="745222"/>
            <a:ext cx="5110480" cy="5570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000" dirty="0">
                <a:solidFill>
                  <a:schemeClr val="bg1"/>
                </a:solidFill>
                <a:latin typeface="Calibri" panose="020B0604020202020204" pitchFamily="34" charset="0"/>
              </a:rPr>
              <a:t>I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B0604020202020204" pitchFamily="34" charset="0"/>
              </a:rPr>
              <a:t>nsight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B0604020202020204" pitchFamily="34" charset="0"/>
              </a:rPr>
              <a:t>Communication sector leads with 229 opportunities, reflecting strong market engagement.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B0604020202020204" pitchFamily="34" charset="0"/>
              </a:rPr>
              <a:t>Energy follows with 194 opportunities, indicating consistent demand and growth potential.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B0604020202020204" pitchFamily="34" charset="0"/>
              </a:rPr>
              <a:t>Biotechnology (174) and Agriculture (164) highlight emerging and steady opportunities, suggesting diversification beyond traditional tech.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B0604020202020204" pitchFamily="34" charset="0"/>
              </a:rPr>
              <a:t>Takeaway:</a:t>
            </a:r>
            <a:b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B0604020202020204" pitchFamily="34" charset="0"/>
              </a:rPr>
              <a:t>Focus on Communication and Energy for immediate impact, while nurturing Biotechnology and Agriculture for long‑term growth</a:t>
            </a:r>
            <a:r>
              <a:rPr kumimoji="0" lang="en-US" altLang="en-US" sz="2000" b="1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B0604020202020204" pitchFamily="34" charset="0"/>
              </a:rPr>
              <a:t>.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58159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D38FA-BE7B-4687-2084-CB9A9837B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E3498DF-7BAC-5E31-02DF-7FD1CD6FC7CF}"/>
              </a:ext>
            </a:extLst>
          </p:cNvPr>
          <p:cNvSpPr txBox="1">
            <a:spLocks/>
          </p:cNvSpPr>
          <p:nvPr/>
        </p:nvSpPr>
        <p:spPr>
          <a:xfrm>
            <a:off x="639097" y="-114301"/>
            <a:ext cx="8262425" cy="100534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000" b="1" u="sng" dirty="0">
                <a:solidFill>
                  <a:srgbClr val="002060"/>
                </a:solidFill>
                <a:latin typeface="Calibri"/>
              </a:rPr>
              <a:t>Dashboard (Tableau):</a:t>
            </a:r>
            <a:endParaRPr lang="en-IN" sz="2800" b="1" u="sng" dirty="0">
              <a:solidFill>
                <a:srgbClr val="00206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AFA2E1-BE59-DFF1-8217-37EEBA49C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891048"/>
            <a:ext cx="11028141" cy="534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224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B55607-7E2D-DBFD-C3B5-9CC3B6CDC1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6080" y="843280"/>
            <a:ext cx="11117534" cy="57810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852DB5D-BDA8-61C9-B4F3-99F6867B099F}"/>
              </a:ext>
            </a:extLst>
          </p:cNvPr>
          <p:cNvSpPr txBox="1"/>
          <p:nvPr/>
        </p:nvSpPr>
        <p:spPr>
          <a:xfrm rot="10800000" flipV="1">
            <a:off x="863600" y="156736"/>
            <a:ext cx="4358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cap="all" dirty="0">
                <a:ln w="3175" cmpd="sng">
                  <a:noFill/>
                </a:ln>
                <a:solidFill>
                  <a:srgbClr val="002060"/>
                </a:solidFill>
                <a:latin typeface="Calibri"/>
                <a:ea typeface="+mj-ea"/>
                <a:cs typeface="+mj-cs"/>
              </a:rPr>
              <a:t>DASHBOARD </a:t>
            </a:r>
            <a:r>
              <a:rPr lang="en-US" sz="2000" b="1" u="sng" cap="all" dirty="0">
                <a:ln w="3175" cmpd="sng">
                  <a:noFill/>
                </a:ln>
                <a:solidFill>
                  <a:schemeClr val="bg1"/>
                </a:solidFill>
                <a:latin typeface="Calibri"/>
                <a:ea typeface="+mj-ea"/>
                <a:cs typeface="+mj-cs"/>
              </a:rPr>
              <a:t>(</a:t>
            </a:r>
            <a:r>
              <a:rPr lang="en-US" sz="2000" b="1" u="sng" cap="all" dirty="0">
                <a:ln w="3175" cmpd="sng">
                  <a:noFill/>
                </a:ln>
                <a:solidFill>
                  <a:srgbClr val="002060"/>
                </a:solidFill>
                <a:latin typeface="Calibri"/>
                <a:ea typeface="+mj-ea"/>
                <a:cs typeface="+mj-cs"/>
              </a:rPr>
              <a:t>EXCEL</a:t>
            </a:r>
            <a:r>
              <a:rPr lang="en-US" sz="2000" b="1" u="sng" cap="all" dirty="0">
                <a:ln w="3175" cmpd="sng">
                  <a:noFill/>
                </a:ln>
                <a:solidFill>
                  <a:schemeClr val="bg1"/>
                </a:solidFill>
                <a:latin typeface="Calibri"/>
                <a:ea typeface="+mj-ea"/>
                <a:cs typeface="+mj-cs"/>
              </a:rPr>
              <a:t>)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3520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FF5EE67-DE83-C00F-F31C-58A2B4623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256296"/>
            <a:ext cx="4988168" cy="704600"/>
          </a:xfrm>
        </p:spPr>
        <p:txBody>
          <a:bodyPr>
            <a:normAutofit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</a:pPr>
            <a:r>
              <a:rPr lang="en-US" b="1" cap="none" dirty="0">
                <a:solidFill>
                  <a:schemeClr val="bg2">
                    <a:lumMod val="75000"/>
                  </a:schemeClr>
                </a:solidFill>
                <a:latin typeface="Calibri" panose="020B0A04020102020204" pitchFamily="34" charset="0"/>
                <a:ea typeface="+mn-ea"/>
                <a:cs typeface="Arial" panose="020B0604020202020204" pitchFamily="34" charset="0"/>
              </a:rPr>
              <a:t>LEAD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7743C-9A64-6DD7-26EC-7870E2484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181746"/>
            <a:ext cx="8534400" cy="3615267"/>
          </a:xfrm>
        </p:spPr>
        <p:txBody>
          <a:bodyPr>
            <a:no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b="1" dirty="0">
                <a:solidFill>
                  <a:schemeClr val="bg1"/>
                </a:solidFill>
                <a:latin typeface="Calibri" panose="020B0604020202020204" pitchFamily="34" charset="0"/>
              </a:rPr>
              <a:t>Tool Used: </a:t>
            </a:r>
            <a:r>
              <a:rPr lang="en-US" dirty="0">
                <a:solidFill>
                  <a:schemeClr val="bg1"/>
                </a:solidFill>
                <a:latin typeface="Calibri" panose="020B0604020202020204" pitchFamily="34" charset="0"/>
              </a:rPr>
              <a:t>Tableau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b="1" dirty="0">
                <a:solidFill>
                  <a:schemeClr val="bg1"/>
                </a:solidFill>
                <a:latin typeface="Calibri" panose="020B0604020202020204" pitchFamily="34" charset="0"/>
              </a:rPr>
              <a:t>Dataset</a:t>
            </a:r>
            <a:r>
              <a:rPr lang="en-US" dirty="0">
                <a:solidFill>
                  <a:schemeClr val="bg1"/>
                </a:solidFill>
                <a:latin typeface="Calibri" panose="020B0604020202020204" pitchFamily="34" charset="0"/>
              </a:rPr>
              <a:t>: Lead Dashboard Analytics</a:t>
            </a:r>
          </a:p>
          <a:p>
            <a:endParaRPr lang="en-US" sz="2500" b="1" dirty="0">
              <a:latin typeface="Tenorite (Body)"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Calibri" panose="020B0604020202020204" pitchFamily="34" charset="0"/>
              </a:rPr>
              <a:t>    Objective:</a:t>
            </a:r>
            <a:endParaRPr lang="en-US" altLang="en-US" sz="2500" dirty="0">
              <a:latin typeface="Tenorite (Body)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bg1"/>
                </a:solidFill>
                <a:latin typeface="Calibri" panose="020B0604020202020204" pitchFamily="34" charset="0"/>
              </a:rPr>
              <a:t>Track lead sources, industries, and stages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bg1"/>
                </a:solidFill>
                <a:latin typeface="Calibri" panose="020B0604020202020204" pitchFamily="34" charset="0"/>
              </a:rPr>
              <a:t>Measure conversion efficiency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dirty="0">
                <a:solidFill>
                  <a:schemeClr val="bg1"/>
                </a:solidFill>
                <a:latin typeface="Calibri" panose="020B0604020202020204" pitchFamily="34" charset="0"/>
              </a:rPr>
              <a:t>Identify high-performing channels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500" dirty="0">
              <a:latin typeface="Tenorite (Body)"/>
            </a:endParaRPr>
          </a:p>
        </p:txBody>
      </p:sp>
    </p:spTree>
    <p:extLst>
      <p:ext uri="{BB962C8B-B14F-4D97-AF65-F5344CB8AC3E}">
        <p14:creationId xmlns:p14="http://schemas.microsoft.com/office/powerpoint/2010/main" val="2529338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DF9E134-98AA-3ECE-E40A-180C85ACD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0"/>
            <a:ext cx="9601200" cy="1653371"/>
          </a:xfrm>
        </p:spPr>
        <p:txBody>
          <a:bodyPr/>
          <a:lstStyle/>
          <a:p>
            <a:br>
              <a:rPr lang="en-US" sz="4000" cap="all" dirty="0">
                <a:ln w="3175" cmpd="sng">
                  <a:noFill/>
                </a:ln>
                <a:solidFill>
                  <a:srgbClr val="002060"/>
                </a:solidFill>
              </a:rPr>
            </a:br>
            <a:r>
              <a:rPr lang="en-US" sz="2000" cap="all" dirty="0">
                <a:ln w="3175" cmpd="sng">
                  <a:noFill/>
                </a:ln>
                <a:solidFill>
                  <a:schemeClr val="accent1"/>
                </a:solidFill>
                <a:latin typeface="Calibri"/>
              </a:rPr>
              <a:t>Introduction</a:t>
            </a:r>
            <a:endParaRPr lang="en-US" sz="40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55C0B-19FB-954B-532A-0A68CAC4E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2" y="2023983"/>
            <a:ext cx="4663440" cy="4042519"/>
          </a:xfrm>
        </p:spPr>
        <p:txBody>
          <a:bodyPr>
            <a:noAutofit/>
          </a:bodyPr>
          <a:lstStyle/>
          <a:p>
            <a:r>
              <a:rPr lang="en-US" sz="2000" b="1" cap="all" dirty="0">
                <a:ln w="3175" cmpd="sng">
                  <a:noFill/>
                </a:ln>
                <a:solidFill>
                  <a:schemeClr val="accent1"/>
                </a:solidFill>
                <a:latin typeface="Calibri"/>
              </a:rPr>
              <a:t>About the Project</a:t>
            </a:r>
            <a:endParaRPr lang="en-US" altLang="en-US" sz="1900" dirty="0">
              <a:solidFill>
                <a:schemeClr val="accent1"/>
              </a:solidFill>
              <a:latin typeface="Tenorite (Body)"/>
            </a:endParaRP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accent1"/>
                </a:solidFill>
                <a:latin typeface="Calibri"/>
              </a:rPr>
              <a:t>Delivers actionable insights on lead sources, industry trends, and conversion performance 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accent1"/>
                </a:solidFill>
                <a:latin typeface="Calibri"/>
              </a:rPr>
              <a:t>Identifies high-value opportunities to improve targeting and resource allocation 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accent1"/>
                </a:solidFill>
                <a:latin typeface="Calibri"/>
              </a:rPr>
              <a:t>Enables data-driven decision-making across marketing and sales functions 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chemeClr val="accent1"/>
                </a:solidFill>
                <a:latin typeface="Calibri"/>
              </a:rPr>
              <a:t>Optimizes campaign effectiveness to increase lead quality and conversion rates.</a:t>
            </a:r>
          </a:p>
          <a:p>
            <a:endParaRPr lang="en-US" sz="1900" dirty="0">
              <a:latin typeface="Tenorite (Body)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A34351-9D9C-8C32-5CC0-3F19A1CAC037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283235" y="2023983"/>
            <a:ext cx="4663440" cy="4042518"/>
          </a:xfrm>
        </p:spPr>
        <p:txBody>
          <a:bodyPr>
            <a:normAutofit lnSpcReduction="10000"/>
          </a:bodyPr>
          <a:lstStyle/>
          <a:p>
            <a:r>
              <a:rPr lang="en-US" sz="2000" b="1" dirty="0">
                <a:solidFill>
                  <a:schemeClr val="accent1"/>
                </a:solidFill>
                <a:latin typeface="Calibri"/>
              </a:rPr>
              <a:t>PURPOSE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1"/>
                </a:solidFill>
                <a:latin typeface="Calibri"/>
              </a:rPr>
              <a:t>Analyze lead data to understand generation trends, conversion rates, and overall sales performance.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1"/>
                </a:solidFill>
                <a:latin typeface="Calibri"/>
              </a:rPr>
              <a:t>Identify high-performing channels and track lead movement across different stages of the funnel.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1"/>
                </a:solidFill>
                <a:latin typeface="Calibri"/>
              </a:rPr>
              <a:t>Provide data-driven insights to improve decision-making, optimize marketing strategies, and increase business growth.</a:t>
            </a:r>
          </a:p>
        </p:txBody>
      </p:sp>
    </p:spTree>
    <p:extLst>
      <p:ext uri="{BB962C8B-B14F-4D97-AF65-F5344CB8AC3E}">
        <p14:creationId xmlns:p14="http://schemas.microsoft.com/office/powerpoint/2010/main" val="12659396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FD991-4CC3-5343-21FC-D6CE04F1D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0FE86C-1490-76EE-9562-BD7ECD5F3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3" y="580103"/>
            <a:ext cx="9601200" cy="678426"/>
          </a:xfrm>
        </p:spPr>
        <p:txBody>
          <a:bodyPr>
            <a:normAutofit fontScale="90000"/>
          </a:bodyPr>
          <a:lstStyle/>
          <a:p>
            <a:br>
              <a:rPr lang="en-US" sz="4400" cap="all" dirty="0">
                <a:ln w="3175" cmpd="sng">
                  <a:noFill/>
                </a:ln>
              </a:rPr>
            </a:br>
            <a:br>
              <a:rPr lang="en-US" sz="4400" cap="all" dirty="0">
                <a:ln w="3175" cmpd="sng">
                  <a:noFill/>
                </a:ln>
              </a:rPr>
            </a:br>
            <a:r>
              <a:rPr lang="en-US" sz="2000" cap="all" dirty="0">
                <a:ln w="3175" cmpd="sng">
                  <a:noFill/>
                </a:ln>
                <a:solidFill>
                  <a:schemeClr val="accent1"/>
                </a:solidFill>
                <a:latin typeface="Calibri"/>
              </a:rPr>
              <a:t>Introduction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FBA1B-66EC-B38C-3582-3DC8C065E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3" y="1762584"/>
            <a:ext cx="4663440" cy="3332832"/>
          </a:xfrm>
        </p:spPr>
        <p:txBody>
          <a:bodyPr>
            <a:normAutofit fontScale="92500" lnSpcReduction="20000"/>
          </a:bodyPr>
          <a:lstStyle/>
          <a:p>
            <a:r>
              <a:rPr lang="en-US" sz="2000" b="1" dirty="0">
                <a:solidFill>
                  <a:schemeClr val="accent1"/>
                </a:solidFill>
                <a:latin typeface="Calibri"/>
              </a:rPr>
              <a:t>Scope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1"/>
                </a:solidFill>
                <a:latin typeface="Calibri"/>
              </a:rPr>
              <a:t>Deliver interactive analysis of lead data to uncover trends, customer behavior, and acquisition patterns.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1"/>
                </a:solidFill>
                <a:latin typeface="Calibri"/>
              </a:rPr>
              <a:t>Evaluate the complete sales funnel to identify drop-offs, improve conversions, and enhance lead quality.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1"/>
                </a:solidFill>
                <a:latin typeface="Calibri"/>
              </a:rPr>
              <a:t>Generate actionable insights through dashboards to optimize marketing strategies and drive business growth.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566CB7-5EF7-637A-B6E2-95D85785AAB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361069" y="1762584"/>
            <a:ext cx="4663440" cy="3332832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chemeClr val="accent1"/>
                </a:solidFill>
                <a:latin typeface="Calibri"/>
              </a:rPr>
              <a:t>Tools &amp; Technology</a:t>
            </a:r>
            <a:endParaRPr lang="en-US" dirty="0">
              <a:solidFill>
                <a:schemeClr val="accent1"/>
              </a:solidFill>
            </a:endParaRP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1"/>
                </a:solidFill>
                <a:latin typeface="Calibri"/>
              </a:rPr>
              <a:t>Data processing &amp; validation</a:t>
            </a: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1"/>
                </a:solidFill>
                <a:latin typeface="Calibri"/>
              </a:rPr>
              <a:t>Visualization dashboard (tableau/ reporting tool)</a:t>
            </a:r>
          </a:p>
          <a:p>
            <a:pPr marL="2857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1"/>
                </a:solidFill>
                <a:latin typeface="Calibri"/>
              </a:rPr>
              <a:t>Structured database sources</a:t>
            </a:r>
          </a:p>
        </p:txBody>
      </p:sp>
    </p:spTree>
    <p:extLst>
      <p:ext uri="{BB962C8B-B14F-4D97-AF65-F5344CB8AC3E}">
        <p14:creationId xmlns:p14="http://schemas.microsoft.com/office/powerpoint/2010/main" val="28069016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880CB-D260-94F5-1C27-196A4C8B7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3C8DB-490F-2913-793A-021835577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302791"/>
            <a:ext cx="7390405" cy="983570"/>
          </a:xfrm>
        </p:spPr>
        <p:txBody>
          <a:bodyPr/>
          <a:lstStyle/>
          <a:p>
            <a:r>
              <a:rPr lang="en-US" sz="2000" dirty="0">
                <a:solidFill>
                  <a:schemeClr val="accent1"/>
                </a:solidFill>
                <a:latin typeface="Calibri"/>
              </a:rPr>
              <a:t>OBJECTIVES - KPIS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4DA7A-30D1-8E77-9FB3-539ADC0E8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492" y="2084833"/>
            <a:ext cx="8949901" cy="2329852"/>
          </a:xfrm>
        </p:spPr>
        <p:txBody>
          <a:bodyPr numCol="2"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/>
                </a:solidFill>
                <a:latin typeface="Calibri"/>
              </a:rPr>
              <a:t>Total Leads:</a:t>
            </a:r>
            <a:r>
              <a:rPr lang="en-US" sz="2000" dirty="0">
                <a:solidFill>
                  <a:schemeClr val="accent1"/>
                </a:solidFill>
                <a:latin typeface="Calibri"/>
              </a:rPr>
              <a:t> 10K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/>
                </a:solidFill>
                <a:latin typeface="Calibri"/>
              </a:rPr>
              <a:t>Converted Accounts:</a:t>
            </a:r>
            <a:r>
              <a:rPr lang="en-US" sz="2000" dirty="0">
                <a:solidFill>
                  <a:schemeClr val="accent1"/>
                </a:solidFill>
                <a:latin typeface="Calibri"/>
              </a:rPr>
              <a:t> 1,006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/>
                </a:solidFill>
                <a:latin typeface="Calibri"/>
              </a:rPr>
              <a:t>Converted Opportunities:</a:t>
            </a:r>
            <a:r>
              <a:rPr lang="en-US" sz="2000" dirty="0">
                <a:solidFill>
                  <a:schemeClr val="accent1"/>
                </a:solidFill>
                <a:latin typeface="Calibri"/>
              </a:rPr>
              <a:t> 367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/>
                </a:solidFill>
                <a:latin typeface="Calibri"/>
              </a:rPr>
              <a:t>Conversion Rate:</a:t>
            </a:r>
            <a:r>
              <a:rPr lang="en-US" sz="2000" dirty="0">
                <a:solidFill>
                  <a:schemeClr val="accent1"/>
                </a:solidFill>
                <a:latin typeface="Calibri"/>
              </a:rPr>
              <a:t> 8.95%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/>
                </a:solidFill>
                <a:latin typeface="Calibri"/>
              </a:rPr>
              <a:t>Expected Revenue:</a:t>
            </a:r>
            <a:r>
              <a:rPr lang="en-US" sz="2000" dirty="0">
                <a:solidFill>
                  <a:schemeClr val="accent1"/>
                </a:solidFill>
                <a:latin typeface="Calibri"/>
              </a:rPr>
              <a:t> ₹38,724K</a:t>
            </a:r>
            <a:endParaRPr lang="en-US" sz="2000" b="1" dirty="0">
              <a:solidFill>
                <a:schemeClr val="accent1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/>
                </a:solidFill>
                <a:latin typeface="Calibri"/>
              </a:rPr>
              <a:t>Lead By Source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/>
                </a:solidFill>
                <a:latin typeface="Calibri"/>
              </a:rPr>
              <a:t>Lead By Industry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/>
                </a:solidFill>
                <a:latin typeface="Calibri"/>
              </a:rPr>
              <a:t>Lead Conversion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/>
                </a:solidFill>
                <a:latin typeface="Calibri"/>
              </a:rPr>
              <a:t>Lead By Stage</a:t>
            </a:r>
          </a:p>
        </p:txBody>
      </p:sp>
    </p:spTree>
    <p:extLst>
      <p:ext uri="{BB962C8B-B14F-4D97-AF65-F5344CB8AC3E}">
        <p14:creationId xmlns:p14="http://schemas.microsoft.com/office/powerpoint/2010/main" val="25648591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AECEE-78B3-32F7-907B-8773373BA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24D46-3CBB-A989-86C6-5FDD51045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256008"/>
            <a:ext cx="7638378" cy="859583"/>
          </a:xfrm>
        </p:spPr>
        <p:txBody>
          <a:bodyPr/>
          <a:lstStyle/>
          <a:p>
            <a:r>
              <a:rPr lang="en-US" sz="2000" dirty="0">
                <a:solidFill>
                  <a:schemeClr val="accent1"/>
                </a:solidFill>
                <a:latin typeface="Calibri"/>
              </a:rPr>
              <a:t>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53F92-4808-16C6-461F-167A6683E8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/>
                </a:solidFill>
                <a:latin typeface="Calibri"/>
              </a:rPr>
              <a:t>Step 1: </a:t>
            </a:r>
            <a:r>
              <a:rPr lang="en-US" sz="2000" dirty="0">
                <a:solidFill>
                  <a:schemeClr val="accent1"/>
                </a:solidFill>
                <a:latin typeface="Calibri"/>
              </a:rPr>
              <a:t>Data Cleaning (Null check, format correction)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/>
                </a:solidFill>
                <a:latin typeface="Calibri"/>
              </a:rPr>
              <a:t>Step 2: </a:t>
            </a:r>
            <a:r>
              <a:rPr lang="en-US" sz="2000" dirty="0">
                <a:solidFill>
                  <a:schemeClr val="accent1"/>
                </a:solidFill>
                <a:latin typeface="Calibri"/>
              </a:rPr>
              <a:t>Created Calculated Fields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/>
                </a:solidFill>
                <a:latin typeface="Calibri"/>
              </a:rPr>
              <a:t>Step 3: </a:t>
            </a:r>
            <a:r>
              <a:rPr lang="en-US" sz="2000" dirty="0">
                <a:solidFill>
                  <a:schemeClr val="accent1"/>
                </a:solidFill>
                <a:latin typeface="Calibri"/>
              </a:rPr>
              <a:t>Built Charts (Customer ID, Customer Name, Account Number)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/>
                </a:solidFill>
                <a:latin typeface="Calibri"/>
              </a:rPr>
              <a:t>Step 4: </a:t>
            </a:r>
            <a:r>
              <a:rPr lang="en-US" sz="2000" dirty="0">
                <a:solidFill>
                  <a:schemeClr val="accent1"/>
                </a:solidFill>
                <a:latin typeface="Calibri"/>
              </a:rPr>
              <a:t>Dashboard Design and KPI Cards</a:t>
            </a:r>
          </a:p>
        </p:txBody>
      </p:sp>
    </p:spTree>
    <p:extLst>
      <p:ext uri="{BB962C8B-B14F-4D97-AF65-F5344CB8AC3E}">
        <p14:creationId xmlns:p14="http://schemas.microsoft.com/office/powerpoint/2010/main" val="30984290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BA45F-6736-CBCF-151C-199D00EC7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54" y="402956"/>
            <a:ext cx="3841293" cy="972948"/>
          </a:xfrm>
        </p:spPr>
        <p:txBody>
          <a:bodyPr/>
          <a:lstStyle/>
          <a:p>
            <a:r>
              <a:rPr lang="en-US" sz="2000" dirty="0">
                <a:solidFill>
                  <a:schemeClr val="accent1"/>
                </a:solidFill>
                <a:latin typeface="Calibri"/>
              </a:rPr>
              <a:t>KPI -01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24F816-D115-0D91-B2DD-B268B58D7D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1954" y="2168286"/>
            <a:ext cx="5830507" cy="2482371"/>
          </a:xfrm>
          <a:prstGeom prst="rect">
            <a:avLst/>
          </a:prstGeom>
        </p:spPr>
      </p:pic>
      <p:sp>
        <p:nvSpPr>
          <p:cNvPr id="15" name="Rectangle 7">
            <a:extLst>
              <a:ext uri="{FF2B5EF4-FFF2-40B4-BE49-F238E27FC236}">
                <a16:creationId xmlns:a16="http://schemas.microsoft.com/office/drawing/2014/main" id="{AADCF86D-5755-EF58-24E6-F8B20AC7469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582992" y="2398907"/>
            <a:ext cx="5427408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enorite (Body)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Calibri"/>
              </a:rPr>
              <a:t>Inside Sales is the most effective lead generation channel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Calibri"/>
              </a:rPr>
              <a:t>Digital platforms (Website, Webinars) also play a strong role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Calibri"/>
              </a:rPr>
              <a:t>Some channels contribute very little and may need optimization </a:t>
            </a:r>
          </a:p>
        </p:txBody>
      </p:sp>
    </p:spTree>
    <p:extLst>
      <p:ext uri="{BB962C8B-B14F-4D97-AF65-F5344CB8AC3E}">
        <p14:creationId xmlns:p14="http://schemas.microsoft.com/office/powerpoint/2010/main" val="41113975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5A68E-2CF2-4207-0217-DDFA590A8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5D54B-8526-9C24-7DB7-DC4E8958B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886" y="526943"/>
            <a:ext cx="2942391" cy="709477"/>
          </a:xfrm>
        </p:spPr>
        <p:txBody>
          <a:bodyPr/>
          <a:lstStyle/>
          <a:p>
            <a:r>
              <a:rPr lang="en-US" sz="2000" dirty="0">
                <a:solidFill>
                  <a:schemeClr val="accent1"/>
                </a:solidFill>
                <a:latin typeface="Calibri"/>
              </a:rPr>
              <a:t>KPI -02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A3C796C-E2D0-802B-7B00-F82428B371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6886" y="2507475"/>
            <a:ext cx="4889179" cy="2156647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1850BCF3-8E9A-09FF-CEB4-FD1B79AE006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820696" y="2359363"/>
            <a:ext cx="5368414" cy="1908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enorite (Body)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Calibri"/>
              </a:rPr>
              <a:t>Safety &amp; Security is the dominant industry for lead generation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Calibri"/>
              </a:rPr>
              <a:t>Life Sciences is the second major contributor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Calibri"/>
              </a:rPr>
              <a:t>Other industries have very low engagement and potential </a:t>
            </a:r>
          </a:p>
        </p:txBody>
      </p:sp>
    </p:spTree>
    <p:extLst>
      <p:ext uri="{BB962C8B-B14F-4D97-AF65-F5344CB8AC3E}">
        <p14:creationId xmlns:p14="http://schemas.microsoft.com/office/powerpoint/2010/main" val="5132502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14FCA-B924-39C5-A2F1-7A3FD9607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80FB2-C414-82B7-02B6-5643BF0E6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0010" y="542441"/>
            <a:ext cx="4368235" cy="914400"/>
          </a:xfrm>
        </p:spPr>
        <p:txBody>
          <a:bodyPr/>
          <a:lstStyle/>
          <a:p>
            <a:r>
              <a:rPr lang="en-US" sz="2000" dirty="0">
                <a:solidFill>
                  <a:schemeClr val="accent1"/>
                </a:solidFill>
                <a:latin typeface="Calibri"/>
              </a:rPr>
              <a:t>KPI -03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6461738-98F7-7697-2A62-275319B3EF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0010" y="2498405"/>
            <a:ext cx="4545049" cy="2239730"/>
          </a:xfrm>
          <a:prstGeom prst="rect">
            <a:avLst/>
          </a:prstGeom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12E56D04-192E-3412-4D95-E4769D941414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096000" y="2802663"/>
            <a:ext cx="4850675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Calibri"/>
              </a:rPr>
              <a:t>Very small portion of leads are converted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Calibri"/>
              </a:rPr>
              <a:t>Majority of leads are lost or remain unconverted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Calibri"/>
              </a:rPr>
              <a:t>Conversion rate is relatively low and needs improvement </a:t>
            </a:r>
          </a:p>
        </p:txBody>
      </p:sp>
    </p:spTree>
    <p:extLst>
      <p:ext uri="{BB962C8B-B14F-4D97-AF65-F5344CB8AC3E}">
        <p14:creationId xmlns:p14="http://schemas.microsoft.com/office/powerpoint/2010/main" val="37742912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EBFC6-FF80-BAA9-A066-D9257DC0D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77204-B2BB-35D3-FDA5-B38BD6F41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207" y="356461"/>
            <a:ext cx="2849402" cy="82141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1"/>
                </a:solidFill>
                <a:latin typeface="Calibri"/>
              </a:rPr>
              <a:t>EXCEL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52CA0D3-27E5-1B96-8A4F-39D58CF152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8207" y="1745456"/>
            <a:ext cx="10094464" cy="4085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757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544C5-05C1-ECAC-91C8-AF0EF7D24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A3B1F-ECFA-57DF-A15C-7CAF7AC31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018" y="468283"/>
            <a:ext cx="8534400" cy="631985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accent1"/>
                </a:solidFill>
                <a:latin typeface="Calibri"/>
              </a:rPr>
              <a:t>TABLEAU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96E53B7-B4B5-0980-D898-89587E55CF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7018" y="1706564"/>
            <a:ext cx="9342057" cy="4527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028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41025-7627-F52C-A592-0B97464FE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BFDB4-AE37-8D17-0D63-454F8B06C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6085" y="299665"/>
            <a:ext cx="8474693" cy="893706"/>
          </a:xfrm>
        </p:spPr>
        <p:txBody>
          <a:bodyPr/>
          <a:lstStyle/>
          <a:p>
            <a:r>
              <a:rPr lang="en-US" sz="2000" dirty="0">
                <a:solidFill>
                  <a:schemeClr val="accent1"/>
                </a:solidFill>
                <a:latin typeface="Calibri"/>
              </a:rPr>
              <a:t>POWER BI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E29319E-102B-DF26-2A97-424723C6D0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6085" y="1706564"/>
            <a:ext cx="8123992" cy="4715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5858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1DBF7-26CD-1E75-6FEA-43319DE4E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990D0E5-A13C-7252-F022-73D30BF80E21}"/>
              </a:ext>
            </a:extLst>
          </p:cNvPr>
          <p:cNvSpPr txBox="1">
            <a:spLocks/>
          </p:cNvSpPr>
          <p:nvPr/>
        </p:nvSpPr>
        <p:spPr>
          <a:xfrm>
            <a:off x="533400" y="419911"/>
            <a:ext cx="10625380" cy="981049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580D010-DD10-702C-854E-A49C6747E7F7}"/>
              </a:ext>
            </a:extLst>
          </p:cNvPr>
          <p:cNvSpPr txBox="1">
            <a:spLocks/>
          </p:cNvSpPr>
          <p:nvPr/>
        </p:nvSpPr>
        <p:spPr>
          <a:xfrm>
            <a:off x="533399" y="1689370"/>
            <a:ext cx="10733869" cy="37676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1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endParaRPr lang="en-US" dirty="0">
              <a:solidFill>
                <a:srgbClr val="00206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41F4A5-1F6B-E473-3DC4-C2D627A311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632155" y="1096296"/>
            <a:ext cx="9330813" cy="4665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176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779</TotalTime>
  <Words>864</Words>
  <Application>Microsoft Office PowerPoint</Application>
  <PresentationFormat>Widescreen</PresentationFormat>
  <Paragraphs>141</Paragraphs>
  <Slides>23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Algerian</vt:lpstr>
      <vt:lpstr>Aptos</vt:lpstr>
      <vt:lpstr>Arial</vt:lpstr>
      <vt:lpstr>Arial Black</vt:lpstr>
      <vt:lpstr>Calibri</vt:lpstr>
      <vt:lpstr>Century Gothic</vt:lpstr>
      <vt:lpstr>Tenorite (Body)</vt:lpstr>
      <vt:lpstr>Wingdings</vt:lpstr>
      <vt:lpstr>Wingdings 3</vt:lpstr>
      <vt:lpstr>Slice</vt:lpstr>
      <vt:lpstr>PowerPoint Presentation</vt:lpstr>
      <vt:lpstr>PowerPoint Presentation</vt:lpstr>
      <vt:lpstr>PowerPoint Presentation</vt:lpstr>
      <vt:lpstr>PowerPoint Presentation</vt:lpstr>
      <vt:lpstr>Tools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LEAD DASHBOARD</vt:lpstr>
      <vt:lpstr> Introduction</vt:lpstr>
      <vt:lpstr>  Introduction</vt:lpstr>
      <vt:lpstr>OBJECTIVES - KPIS</vt:lpstr>
      <vt:lpstr>PROCESS</vt:lpstr>
      <vt:lpstr>KPI -01</vt:lpstr>
      <vt:lpstr>KPI -02</vt:lpstr>
      <vt:lpstr>KPI -03</vt:lpstr>
      <vt:lpstr>EXCEL</vt:lpstr>
      <vt:lpstr>TABLEAU</vt:lpstr>
      <vt:lpstr>POWER BI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Meet Our team:</dc:title>
  <dc:creator>Avinash Chavan</dc:creator>
  <cp:lastModifiedBy>Anish kumar</cp:lastModifiedBy>
  <cp:revision>28</cp:revision>
  <dcterms:created xsi:type="dcterms:W3CDTF">2026-02-17T11:16:00Z</dcterms:created>
  <dcterms:modified xsi:type="dcterms:W3CDTF">2026-04-12T18:54:47Z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2026-02-18T05:12:13Z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180e4901-edf9-47a0-9756-059be2fb1cc1</vt:lpwstr>
  </property>
  <property fmtid="{D5CDD505-2E9C-101B-9397-08002B2CF9AE}" pid="7" name="MSIP_Label_defa4170-0d19-0005-0004-bc88714345d2_ActionId">
    <vt:lpwstr>49924cbb-c03e-472e-8502-51e5f17380a8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